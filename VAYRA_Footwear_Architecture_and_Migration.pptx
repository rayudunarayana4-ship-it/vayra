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D11"/>
          </a:solidFill>
          <a:ln>
            <a:solidFill>
              <a:srgbClr val="0D0D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4AF37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97280" y="1463040"/>
            <a:ext cx="2926080" cy="411480"/>
          </a:xfrm>
          <a:prstGeom prst="roundRect">
            <a:avLst/>
          </a:prstGeom>
          <a:solidFill>
            <a:srgbClr val="181820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D4AF37"/>
                </a:solidFill>
              </a:defRPr>
            </a:pPr>
            <a:r>
              <a:t>ENTERPRISE COMMERCE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011680"/>
            <a:ext cx="10058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600" b="1">
                <a:solidFill>
                  <a:srgbClr val="F1F5F9"/>
                </a:solidFill>
              </a:defRPr>
            </a:pPr>
            <a:r>
              <a:t>VAYRA FOOTWEAR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2004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D4AF37"/>
                </a:solidFill>
              </a:defRPr>
            </a:pPr>
            <a:r>
              <a:t>Modern E-Commerce Architecture &amp; Full-Stack System Design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114800"/>
            <a:ext cx="9601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A0AEC0"/>
                </a:solidFill>
              </a:defRPr>
            </a:pPr>
            <a:r>
              <a:t>Comprehensive technical overview of VAYRA's transition from client-side prototype to an independent Spring Boot microservice and dedicated MySQL relational database.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5303520"/>
            <a:ext cx="9966960" cy="822960"/>
          </a:xfrm>
          <a:prstGeom prst="roundRect">
            <a:avLst/>
          </a:prstGeom>
          <a:solidFill>
            <a:srgbClr val="181820"/>
          </a:solidFill>
          <a:ln w="1524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1F5F9"/>
                </a:solidFill>
              </a:defRPr>
            </a:pPr>
            <a:r>
              <a:t>TECH STACK: React 19 + Vite  |  Tailwind CSS  |  Spring Boot 4 / Java 17  |  Spring Data JPA  |  MySQL 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solidFill>
              <a:srgbClr val="F8F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4AF37"/>
                </a:solidFill>
              </a:defRPr>
            </a:pPr>
            <a:r>
              <a:t>PROJECT 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Executive Summary: Moving from Prototype to Production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328416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2962656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DC2626"/>
                </a:solidFill>
              </a:defRPr>
            </a:pPr>
            <a:r>
              <a:t>1. Legacy Challenges</a:t>
            </a:r>
          </a:p>
          <a:p>
            <a:pPr>
              <a:spcBef>
                <a:spcPts val="800"/>
              </a:spcBef>
              <a:defRPr sz="1200">
                <a:solidFill>
                  <a:srgbClr val="64748B"/>
                </a:solidFill>
              </a:defRPr>
            </a:pPr>
            <a:r>
              <a:t>• Browser localStorage Vulnerability: Products and orders were bound to local browser storage, lost upon cache clearing.</a:t>
            </a:r>
          </a:p>
          <a:p>
            <a:pPr>
              <a:spcBef>
                <a:spcPts val="800"/>
              </a:spcBef>
              <a:defRPr sz="1200">
                <a:solidFill>
                  <a:srgbClr val="64748B"/>
                </a:solidFill>
              </a:defRPr>
            </a:pPr>
            <a:r>
              <a:t>• Data Desynchronization: Admin edits were not persistent across different client devices.</a:t>
            </a:r>
          </a:p>
          <a:p>
            <a:pPr>
              <a:spcBef>
                <a:spcPts val="800"/>
              </a:spcBef>
              <a:defRPr sz="1200">
                <a:solidFill>
                  <a:srgbClr val="64748B"/>
                </a:solidFill>
              </a:defRPr>
            </a:pPr>
            <a:r>
              <a:t>• Coupling Risk: Risk of accidental collision with TWO BROTHERS website and databases.</a:t>
            </a:r>
          </a:p>
          <a:p>
            <a:pPr>
              <a:spcBef>
                <a:spcPts val="800"/>
              </a:spcBef>
              <a:defRPr sz="1200">
                <a:solidFill>
                  <a:srgbClr val="64748B"/>
                </a:solidFill>
              </a:defRPr>
            </a:pPr>
            <a:r>
              <a:t>• Uncontrolled Mock Data: Fallback scripts automatically re-injected unwanted demo shoes.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25696" y="1645920"/>
            <a:ext cx="3328416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08576" y="1828800"/>
            <a:ext cx="2962656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563EB"/>
                </a:solidFill>
              </a:defRPr>
            </a:pPr>
            <a:r>
              <a:t>2. Architectural Solution</a:t>
            </a:r>
          </a:p>
          <a:p>
            <a:pPr>
              <a:spcBef>
                <a:spcPts val="800"/>
              </a:spcBef>
              <a:defRPr sz="1200">
                <a:solidFill>
                  <a:srgbClr val="64748B"/>
                </a:solidFill>
              </a:defRPr>
            </a:pPr>
            <a:r>
              <a:t>• Dedicated Backend Service: Spring Boot 4 application running on custom port 8082.</a:t>
            </a:r>
          </a:p>
          <a:p>
            <a:pPr>
              <a:spcBef>
                <a:spcPts val="800"/>
              </a:spcBef>
              <a:defRPr sz="1200">
                <a:solidFill>
                  <a:srgbClr val="64748B"/>
                </a:solidFill>
              </a:defRPr>
            </a:pPr>
            <a:r>
              <a:t>• Enterprise Relational DB: Standalone MySQL database (vayra_footwear_db) on port 3306.</a:t>
            </a:r>
          </a:p>
          <a:p>
            <a:pPr>
              <a:spcBef>
                <a:spcPts val="800"/>
              </a:spcBef>
              <a:defRPr sz="1200">
                <a:solidFill>
                  <a:srgbClr val="64748B"/>
                </a:solidFill>
              </a:defRPr>
            </a:pPr>
            <a:r>
              <a:t>• Single Source of Truth: All products, images, and inventory strictly managed from MySQL.</a:t>
            </a:r>
          </a:p>
          <a:p>
            <a:pPr>
              <a:spcBef>
                <a:spcPts val="800"/>
              </a:spcBef>
              <a:defRPr sz="1200">
                <a:solidFill>
                  <a:srgbClr val="64748B"/>
                </a:solidFill>
              </a:defRPr>
            </a:pPr>
            <a:r>
              <a:t>• Zero-Touch Boundary: Absolute isolation from Two Brothers store and databases.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19872" y="1645920"/>
            <a:ext cx="3328416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02752" y="1828800"/>
            <a:ext cx="2962656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0B981"/>
                </a:solidFill>
              </a:defRPr>
            </a:pPr>
            <a:r>
              <a:t>3. Strategic Outcomes</a:t>
            </a:r>
          </a:p>
          <a:p>
            <a:pPr>
              <a:spcBef>
                <a:spcPts val="800"/>
              </a:spcBef>
              <a:defRPr sz="1200">
                <a:solidFill>
                  <a:srgbClr val="64748B"/>
                </a:solidFill>
              </a:defRPr>
            </a:pPr>
            <a:r>
              <a:t>• Real-Time Accuracy: Exactly what Admin configures appears on the storefront.</a:t>
            </a:r>
          </a:p>
          <a:p>
            <a:pPr>
              <a:spcBef>
                <a:spcPts val="800"/>
              </a:spcBef>
              <a:defRPr sz="1200">
                <a:solidFill>
                  <a:srgbClr val="64748B"/>
                </a:solidFill>
              </a:defRPr>
            </a:pPr>
            <a:r>
              <a:t>• Reliable Fulfillment: Real orders stored in DB with customer phone, address, and status.</a:t>
            </a:r>
          </a:p>
          <a:p>
            <a:pPr>
              <a:spcBef>
                <a:spcPts val="800"/>
              </a:spcBef>
              <a:defRPr sz="1200">
                <a:solidFill>
                  <a:srgbClr val="64748B"/>
                </a:solidFill>
              </a:defRPr>
            </a:pPr>
            <a:r>
              <a:t>• Scalable Footwear Catalog: Supports unlimited high-res angles, sizes, and specs.</a:t>
            </a:r>
          </a:p>
          <a:p>
            <a:pPr>
              <a:spcBef>
                <a:spcPts val="800"/>
              </a:spcBef>
              <a:defRPr sz="1200">
                <a:solidFill>
                  <a:srgbClr val="64748B"/>
                </a:solidFill>
              </a:defRPr>
            </a:pPr>
            <a:r>
              <a:t>• Production Ready: Clean builds with 0 frontend lint errors and verified Maven artifacts.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solidFill>
              <a:srgbClr val="F8F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4AF37"/>
                </a:solidFill>
              </a:defRPr>
            </a:pPr>
            <a:r>
              <a:t>SYSTEM TOPOLOGY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Full-Stack 3-Tier Architecture &amp; Data 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2926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563EB"/>
                </a:solidFill>
              </a:defRPr>
            </a:pPr>
            <a:r>
              <a:t>TIER 1: FRONTEND</a:t>
            </a:r>
          </a:p>
          <a:p>
            <a:pPr>
              <a:defRPr sz="1200" b="1">
                <a:solidFill>
                  <a:srgbClr val="0F172A"/>
                </a:solidFill>
              </a:defRPr>
            </a:pPr>
            <a:r>
              <a:t>Port 5173  |  React 19 + Vite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• Customer Storefront: Monochrome luxury theme, dynamic hero slider, product grid.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• Interactive Filtering: Category tabs, price sorting, real-time live search.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• Product Details &amp; Bag: High-res gallery, size selector, drawer cart.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• Admin Portal: Inventory control, image URL manager, order fulfillment.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• API Service Layer: Centralized axios/fetch client with fallback cache.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45920"/>
            <a:ext cx="329184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828800"/>
            <a:ext cx="2926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D4AF37"/>
                </a:solidFill>
              </a:defRPr>
            </a:pPr>
            <a:r>
              <a:t>TIER 2: BACKEND API</a:t>
            </a:r>
          </a:p>
          <a:p>
            <a:pPr>
              <a:defRPr sz="1200" b="1">
                <a:solidFill>
                  <a:srgbClr val="0F172A"/>
                </a:solidFill>
              </a:defRPr>
            </a:pPr>
            <a:r>
              <a:t>Port 8082  |  Spring Boot 4 / Java 17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• REST Controllers: /api/products, /api/slides, /api/orders.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• Spring Data JPA: Robust repository abstraction with custom active-status filters.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• Strict Collection Sync: Map-based partial updates preventing unintended collection resets.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• CORS Policy: Seamless integration with Vite dev server and production clients.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• Auto DDL Validation: Schema migration and entity synchronization.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645920"/>
            <a:ext cx="329184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1828800"/>
            <a:ext cx="2926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B981"/>
                </a:solidFill>
              </a:defRPr>
            </a:pPr>
            <a:r>
              <a:t>TIER 3: PERSISTENCE</a:t>
            </a:r>
          </a:p>
          <a:p>
            <a:pPr>
              <a:defRPr sz="1200" b="1">
                <a:solidFill>
                  <a:srgbClr val="0F172A"/>
                </a:solidFill>
              </a:defRPr>
            </a:pPr>
            <a:r>
              <a:t>Port 3306  |  MySQL 8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• vayra_footwear_db: Dedicated database instance with utf8mb4 collation.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• Normalized Tables: products, product_images, product_sizes, product_details, slides, orders.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• Referential Integrity: Cascade delete constraints for clean image cleanup.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• Complete Isolation: 0 interaction with two_brothers_db on port 8081.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• Optimized Queries: Indexed queries for active footwear retrieval.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solidFill>
              <a:srgbClr val="F8F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4AF37"/>
                </a:solidFill>
              </a:defRPr>
            </a:pPr>
            <a:r>
              <a:t>RELATIONAL SCHEMA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Dedicated MySQL Database Schema: vayra_footwear_db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2148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475488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563EB"/>
                </a:solidFill>
              </a:defRPr>
            </a:pPr>
            <a:r>
              <a:t>TABLE: products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• Primary Key: id (BIGINT AUTO_INCREMENT)</a:t>
            </a:r>
            <a:br/>
            <a:r>
              <a:t>• Columns: name (VARCHAR), price (DOUBLE), original_price (DOUBLE), category (VARCHAR), description (TEXT), stock (INT), active (BOOLEAN), featured (BOOLEAN), material (VARCHAR)</a:t>
            </a:r>
            <a:br/>
            <a:r>
              <a:t>• Timestamps: created_at, updated_at (Auto-audited)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120640" cy="2148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737360"/>
            <a:ext cx="475488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D4AF37"/>
                </a:solidFill>
              </a:defRPr>
            </a:pPr>
            <a:r>
              <a:t>TABLES: product_images, sizes, details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• product_images: product_id (FK), images (VARCHAR 1000) - Strict 1:1 image row mapping</a:t>
            </a:r>
            <a:br/>
            <a:r>
              <a:t>• product_sizes: product_id (FK), sizes (VARCHAR 50) e.g. UK 7, UK 8, UK 9</a:t>
            </a:r>
            <a:br/>
            <a:r>
              <a:t>• product_details: product_id (FK), details (VARCHAR 500) specification bullet points</a:t>
            </a:r>
            <a:br/>
            <a:r>
              <a:t>• Cascade: Deleting a product automatically clears related rows.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977639"/>
            <a:ext cx="5120640" cy="2148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069080"/>
            <a:ext cx="475488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</a:defRPr>
            </a:pPr>
            <a:r>
              <a:t>TABLE: slides (Hero Banners)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• Primary Key: id (BIGINT AUTO_INCREMENT)</a:t>
            </a:r>
            <a:br/>
            <a:r>
              <a:t>• Content: title, subtitle, image (URL), tag (e.g. NEW DROP), discount (e.g. 20% OFF), cta_text (e.g. SHOP NOW)</a:t>
            </a:r>
            <a:br/>
            <a:r>
              <a:t>• Controls: sort_order (INT), active (BOOLEAN)</a:t>
            </a:r>
            <a:br/>
            <a:r>
              <a:t>• Purpose: Dynamic carousel control directly from Admin without code redeployments.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3977639"/>
            <a:ext cx="5120640" cy="2148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4069080"/>
            <a:ext cx="475488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TABLES: orders &amp; order_items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• orders: id, customer_name, customer_email, customer_phone, shipping_address, payment_method (COD/Card/UPI), total_amount, status (PENDING, CONFIRMED, SHIPPED, DELIVERED)</a:t>
            </a:r>
            <a:br/>
            <a:r>
              <a:t>• order_items: id, order_id (FK), product_id, title, size, price, quantity</a:t>
            </a:r>
            <a:br/>
            <a:r>
              <a:t>• Complete checkout persistence with live Admin status updating.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solidFill>
              <a:srgbClr val="F8F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4AF37"/>
                </a:solidFill>
              </a:defRPr>
            </a:pPr>
            <a:r>
              <a:t>DATA INTEGRITY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Strict Data Flow: Admin as the Absolute Authority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10728655" cy="1005840"/>
          </a:xfrm>
          <a:prstGeom prst="roundRect">
            <a:avLst/>
          </a:prstGeom>
          <a:solidFill>
            <a:srgbClr val="181820"/>
          </a:solidFill>
          <a:ln w="1524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D4AF37"/>
                </a:solidFill>
              </a:defRPr>
            </a:pPr>
            <a:r>
              <a:t>THE ZERO-SURPRISE PRINCIPLE</a:t>
            </a:r>
          </a:p>
          <a:p>
            <a:pPr>
              <a:defRPr sz="1300">
                <a:solidFill>
                  <a:srgbClr val="F1F5F9"/>
                </a:solidFill>
              </a:defRPr>
            </a:pPr>
            <a:r>
              <a:t>The storefront displays ONLY what exists in the MySQL database. No random mock data, no fallback injections, and no phantom shoes.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834640"/>
            <a:ext cx="2514600" cy="3291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3017520"/>
            <a:ext cx="22402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563EB"/>
                </a:solidFill>
              </a:defRPr>
            </a:pPr>
            <a:r>
              <a:t>Rule 1</a:t>
            </a:r>
          </a:p>
          <a:p>
            <a:pPr>
              <a:spcBef>
                <a:spcPts val="400"/>
              </a:spcBef>
              <a:defRPr sz="1500" b="1">
                <a:solidFill>
                  <a:srgbClr val="0F172A"/>
                </a:solidFill>
              </a:defRPr>
            </a:pPr>
            <a:r>
              <a:t>Zero Means Zero</a:t>
            </a:r>
          </a:p>
          <a:p>
            <a:pPr>
              <a:spcBef>
                <a:spcPts val="800"/>
              </a:spcBef>
              <a:defRPr sz="1100">
                <a:solidFill>
                  <a:srgbClr val="64748B"/>
                </a:solidFill>
              </a:defRPr>
            </a:pPr>
            <a:r>
              <a:t>If all products are deleted in Admin, the customer website immediately renders 0 shoes with a clean empty state. Never injects mock items.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65576" y="2834640"/>
            <a:ext cx="2514600" cy="3291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02736" y="3017520"/>
            <a:ext cx="22402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0B981"/>
                </a:solidFill>
              </a:defRPr>
            </a:pPr>
            <a:r>
              <a:t>Rule 2</a:t>
            </a:r>
          </a:p>
          <a:p>
            <a:pPr>
              <a:spcBef>
                <a:spcPts val="400"/>
              </a:spcBef>
              <a:defRPr sz="1500" b="1">
                <a:solidFill>
                  <a:srgbClr val="0F172A"/>
                </a:solidFill>
              </a:defRPr>
            </a:pPr>
            <a:r>
              <a:t>Exact Product Count</a:t>
            </a:r>
          </a:p>
          <a:p>
            <a:pPr>
              <a:spcBef>
                <a:spcPts val="800"/>
              </a:spcBef>
              <a:defRPr sz="1100">
                <a:solidFill>
                  <a:srgbClr val="64748B"/>
                </a:solidFill>
              </a:defRPr>
            </a:pPr>
            <a:r>
              <a:t>Adding 1 shoe displays exactly 1 shoe. Adding 5 shoes displays exactly 5 shoes. Full synchronization between Admin and Client.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9632" y="2834640"/>
            <a:ext cx="2514600" cy="3291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36792" y="3017520"/>
            <a:ext cx="22402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D4AF37"/>
                </a:solidFill>
              </a:defRPr>
            </a:pPr>
            <a:r>
              <a:t>Rule 3</a:t>
            </a:r>
          </a:p>
          <a:p>
            <a:pPr>
              <a:spcBef>
                <a:spcPts val="400"/>
              </a:spcBef>
              <a:defRPr sz="1500" b="1">
                <a:solidFill>
                  <a:srgbClr val="0F172A"/>
                </a:solidFill>
              </a:defRPr>
            </a:pPr>
            <a:r>
              <a:t>Strict Image Mapping</a:t>
            </a:r>
          </a:p>
          <a:p>
            <a:pPr>
              <a:spcBef>
                <a:spcPts val="800"/>
              </a:spcBef>
              <a:defRPr sz="1100">
                <a:solidFill>
                  <a:srgbClr val="64748B"/>
                </a:solidFill>
              </a:defRPr>
            </a:pPr>
            <a:r>
              <a:t>1 uploaded image = 1 row in product_images. 3 images = 3 rows. 0 images = 0 rows. No placeholder or demo URLs injected.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33688" y="2834640"/>
            <a:ext cx="2514600" cy="3291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70848" y="3017520"/>
            <a:ext cx="22402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Rule 4</a:t>
            </a:r>
          </a:p>
          <a:p>
            <a:pPr>
              <a:spcBef>
                <a:spcPts val="400"/>
              </a:spcBef>
              <a:defRPr sz="1500" b="1">
                <a:solidFill>
                  <a:srgbClr val="0F172A"/>
                </a:solidFill>
              </a:defRPr>
            </a:pPr>
            <a:r>
              <a:t>Live Status &amp; Stock</a:t>
            </a:r>
          </a:p>
          <a:p>
            <a:pPr>
              <a:spcBef>
                <a:spcPts val="800"/>
              </a:spcBef>
              <a:defRPr sz="1100">
                <a:solidFill>
                  <a:srgbClr val="64748B"/>
                </a:solidFill>
              </a:defRPr>
            </a:pPr>
            <a:r>
              <a:t>Toggling active = false instantly hides product from customers while preserving it in Admin. Stock updates immediately reflect.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solidFill>
              <a:srgbClr val="F8F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4AF37"/>
                </a:solidFill>
              </a:defRPr>
            </a:pPr>
            <a:r>
              <a:t>BACKEND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Spring Boot Microservice REST API (Port 8082)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563EB"/>
                </a:solidFill>
              </a:defRPr>
            </a:pPr>
            <a:r>
              <a:t>CATALOG &amp; PRODUCT CONTROLLER</a:t>
            </a:r>
          </a:p>
          <a:p>
            <a:pPr>
              <a:spcBef>
                <a:spcPts val="400"/>
              </a:spcBef>
              <a:defRPr sz="1050">
                <a:solidFill>
                  <a:srgbClr val="64748B"/>
                </a:solidFill>
              </a:defRPr>
            </a:pPr>
            <a:r>
              <a:t>GET /api/products: Retrieves complete catalog for Admin management.</a:t>
            </a:r>
          </a:p>
          <a:p>
            <a:pPr>
              <a:spcBef>
                <a:spcPts val="400"/>
              </a:spcBef>
              <a:defRPr sz="1050">
                <a:solidFill>
                  <a:srgbClr val="64748B"/>
                </a:solidFill>
              </a:defRPr>
            </a:pPr>
            <a:r>
              <a:t>GET /api/products?activeOnly=true: Filtered catalog for customer storefront (only active shoes).</a:t>
            </a:r>
          </a:p>
          <a:p>
            <a:pPr>
              <a:spcBef>
                <a:spcPts val="400"/>
              </a:spcBef>
              <a:defRPr sz="1050">
                <a:solidFill>
                  <a:srgbClr val="64748B"/>
                </a:solidFill>
              </a:defRPr>
            </a:pPr>
            <a:r>
              <a:t>GET /api/products/{id}: Detailed view of individual footwear model.</a:t>
            </a:r>
          </a:p>
          <a:p>
            <a:pPr>
              <a:spcBef>
                <a:spcPts val="400"/>
              </a:spcBef>
              <a:defRPr sz="1050">
                <a:solidFill>
                  <a:srgbClr val="64748B"/>
                </a:solidFill>
              </a:defRPr>
            </a:pPr>
            <a:r>
              <a:t>POST /api/products: Creates new product with associated images, sizes, and specs.</a:t>
            </a:r>
          </a:p>
          <a:p>
            <a:pPr>
              <a:spcBef>
                <a:spcPts val="400"/>
              </a:spcBef>
              <a:defRPr sz="1050">
                <a:solidFill>
                  <a:srgbClr val="64748B"/>
                </a:solidFill>
              </a:defRPr>
            </a:pPr>
            <a:r>
              <a:t>PUT /api/products/{id}: Safely synchronizes full/partial fields and image lists.</a:t>
            </a:r>
          </a:p>
          <a:p>
            <a:pPr>
              <a:spcBef>
                <a:spcPts val="400"/>
              </a:spcBef>
              <a:defRPr sz="1050">
                <a:solidFill>
                  <a:srgbClr val="64748B"/>
                </a:solidFill>
              </a:defRPr>
            </a:pPr>
            <a:r>
              <a:t>PATCH /api/products/{id}/stock: Instant atomic inventory adjustment.</a:t>
            </a:r>
          </a:p>
          <a:p>
            <a:pPr>
              <a:spcBef>
                <a:spcPts val="400"/>
              </a:spcBef>
              <a:defRPr sz="1050">
                <a:solidFill>
                  <a:srgbClr val="64748B"/>
                </a:solidFill>
              </a:defRPr>
            </a:pPr>
            <a:r>
              <a:t>PATCH /api/products/{id}/status: Instant visibility toggle (active: true/false).</a:t>
            </a:r>
          </a:p>
          <a:p>
            <a:pPr>
              <a:spcBef>
                <a:spcPts val="400"/>
              </a:spcBef>
              <a:defRPr sz="1050">
                <a:solidFill>
                  <a:srgbClr val="64748B"/>
                </a:solidFill>
              </a:defRPr>
            </a:pPr>
            <a:r>
              <a:t>DELETE /api/products/{id}: Permanently removes product and cascaded image rows.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82880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D4AF37"/>
                </a:solidFill>
              </a:defRPr>
            </a:pPr>
            <a:r>
              <a:t>SLIDES &amp; ORDERS CONTROLLERS</a:t>
            </a:r>
          </a:p>
          <a:p>
            <a:pPr>
              <a:spcBef>
                <a:spcPts val="500"/>
              </a:spcBef>
              <a:defRPr sz="1050">
                <a:solidFill>
                  <a:srgbClr val="64748B"/>
                </a:solidFill>
              </a:defRPr>
            </a:pPr>
            <a:r>
              <a:t>GET /api/slides: Retrieves all promotional hero slides (ordered by sort_order).</a:t>
            </a:r>
          </a:p>
          <a:p>
            <a:pPr>
              <a:spcBef>
                <a:spcPts val="500"/>
              </a:spcBef>
              <a:defRPr sz="1050">
                <a:solidFill>
                  <a:srgbClr val="64748B"/>
                </a:solidFill>
              </a:defRPr>
            </a:pPr>
            <a:r>
              <a:t>POST /api/slides: Creates new promotional banner with CTA and tag.</a:t>
            </a:r>
          </a:p>
          <a:p>
            <a:pPr>
              <a:spcBef>
                <a:spcPts val="500"/>
              </a:spcBef>
              <a:defRPr sz="1050">
                <a:solidFill>
                  <a:srgbClr val="64748B"/>
                </a:solidFill>
              </a:defRPr>
            </a:pPr>
            <a:r>
              <a:t>PUT /api/slides/{id}: Updates hero image, discount badges, and links.</a:t>
            </a:r>
          </a:p>
          <a:p>
            <a:pPr>
              <a:spcBef>
                <a:spcPts val="500"/>
              </a:spcBef>
              <a:defRPr sz="1050">
                <a:solidFill>
                  <a:srgbClr val="64748B"/>
                </a:solidFill>
              </a:defRPr>
            </a:pPr>
            <a:r>
              <a:t>DELETE /api/slides/{id}: Removes banner slide from storefront carousel.</a:t>
            </a:r>
          </a:p>
          <a:p>
            <a:pPr>
              <a:spcBef>
                <a:spcPts val="500"/>
              </a:spcBef>
              <a:defRPr sz="1050">
                <a:solidFill>
                  <a:srgbClr val="64748B"/>
                </a:solidFill>
              </a:defRPr>
            </a:pPr>
            <a:r>
              <a:t>GET /api/orders: Retrieves all customer orders with line items for Admin.</a:t>
            </a:r>
          </a:p>
          <a:p>
            <a:pPr>
              <a:spcBef>
                <a:spcPts val="500"/>
              </a:spcBef>
              <a:defRPr sz="1050">
                <a:solidFill>
                  <a:srgbClr val="64748B"/>
                </a:solidFill>
              </a:defRPr>
            </a:pPr>
            <a:r>
              <a:t>POST /api/orders: Places new order from checkout with customer details &amp; items.</a:t>
            </a:r>
          </a:p>
          <a:p>
            <a:pPr>
              <a:spcBef>
                <a:spcPts val="500"/>
              </a:spcBef>
              <a:defRPr sz="1050">
                <a:solidFill>
                  <a:srgbClr val="64748B"/>
                </a:solidFill>
              </a:defRPr>
            </a:pPr>
            <a:r>
              <a:t>PATCH /api/orders/{id}/status: Updates order lifecycle status (e.g. SHIPPED, DELIVERED).</a:t>
            </a:r>
          </a:p>
          <a:p>
            <a:br/>
            <a:pPr>
              <a:defRPr sz="1050" b="1">
                <a:solidFill>
                  <a:srgbClr val="0F172A"/>
                </a:solidFill>
              </a:defRPr>
            </a:pPr>
            <a:r>
              <a:t>• Cross-Origin Resource Sharing (CORS): Fully configured in WebConfig.java for http://localhost:5173.</a:t>
            </a:r>
            <a:br/>
            <a:r>
              <a:t>• Jackson Deserialization: Uses Map&lt;String, Object&gt; body inspection to prevent empty collections from overwriting existing image rows.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solidFill>
              <a:srgbClr val="F8F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4AF37"/>
                </a:solidFill>
              </a:defRPr>
            </a:pPr>
            <a:r>
              <a:t>FRONTEND USER EXPERIENCE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Customer Storefront: Minimalist Luxury Experience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328416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2962656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Luxury Brand Aesthetic</a:t>
            </a:r>
          </a:p>
          <a:p>
            <a:pPr>
              <a:spcBef>
                <a:spcPts val="800"/>
              </a:spcBef>
              <a:defRPr sz="1150">
                <a:solidFill>
                  <a:srgbClr val="64748B"/>
                </a:solidFill>
              </a:defRPr>
            </a:pPr>
            <a:r>
              <a:t>• Monochrome Palette: Elegant black, charcoal, crisp white, and subtle platinum accents.</a:t>
            </a:r>
          </a:p>
          <a:p>
            <a:pPr>
              <a:spcBef>
                <a:spcPts val="800"/>
              </a:spcBef>
              <a:defRPr sz="1150">
                <a:solidFill>
                  <a:srgbClr val="64748B"/>
                </a:solidFill>
              </a:defRPr>
            </a:pPr>
            <a:r>
              <a:t>• Refined Typography: Clean serif &amp; sans combinations inspired by high-fashion houses.</a:t>
            </a:r>
          </a:p>
          <a:p>
            <a:pPr>
              <a:spcBef>
                <a:spcPts val="800"/>
              </a:spcBef>
              <a:defRPr sz="1150">
                <a:solidFill>
                  <a:srgbClr val="64748B"/>
                </a:solidFill>
              </a:defRPr>
            </a:pPr>
            <a:r>
              <a:t>• Clean Navbar: Streamlined customer navigation (Drops and Admin links removed for clean customer flow).</a:t>
            </a:r>
          </a:p>
          <a:p>
            <a:pPr>
              <a:spcBef>
                <a:spcPts val="800"/>
              </a:spcBef>
              <a:defRPr sz="1150">
                <a:solidFill>
                  <a:srgbClr val="64748B"/>
                </a:solidFill>
              </a:defRPr>
            </a:pPr>
            <a:r>
              <a:t>• Responsive Grid: Optimized 1-to-4 column product layouts across mobile, tablet, and desktop.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25696" y="1645920"/>
            <a:ext cx="3328416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08576" y="1828800"/>
            <a:ext cx="2962656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563EB"/>
                </a:solidFill>
              </a:defRPr>
            </a:pPr>
            <a:r>
              <a:t>Discovery &amp; Showcase</a:t>
            </a:r>
          </a:p>
          <a:p>
            <a:pPr>
              <a:spcBef>
                <a:spcPts val="800"/>
              </a:spcBef>
              <a:defRPr sz="1150">
                <a:solidFill>
                  <a:srgbClr val="64748B"/>
                </a:solidFill>
              </a:defRPr>
            </a:pPr>
            <a:r>
              <a:t>• Dynamic Hero Slider: Stacked promotional banners loaded live from the backend.</a:t>
            </a:r>
          </a:p>
          <a:p>
            <a:pPr>
              <a:spcBef>
                <a:spcPts val="800"/>
              </a:spcBef>
              <a:defRPr sz="1150">
                <a:solidFill>
                  <a:srgbClr val="64748B"/>
                </a:solidFill>
              </a:defRPr>
            </a:pPr>
            <a:r>
              <a:t>• Filter &amp; Sort Engine: Instant filtering by category (Sneakers, Loafers, Boots, Formals) and price ordering.</a:t>
            </a:r>
          </a:p>
          <a:p>
            <a:pPr>
              <a:spcBef>
                <a:spcPts val="800"/>
              </a:spcBef>
              <a:defRPr sz="1150">
                <a:solidFill>
                  <a:srgbClr val="64748B"/>
                </a:solidFill>
              </a:defRPr>
            </a:pPr>
            <a:r>
              <a:t>• Live Search: Instant query filter highlighting matching footwear models.</a:t>
            </a:r>
          </a:p>
          <a:p>
            <a:pPr>
              <a:spcBef>
                <a:spcPts val="800"/>
              </a:spcBef>
              <a:defRPr sz="1150">
                <a:solidFill>
                  <a:srgbClr val="64748B"/>
                </a:solidFill>
              </a:defRPr>
            </a:pPr>
            <a:r>
              <a:t>• Product Detail Page / Modal: Multi-angle image switcher, UK/EU size picker, material breakdown, and stock indicators.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19872" y="1645920"/>
            <a:ext cx="3328416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02752" y="1828800"/>
            <a:ext cx="2962656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B981"/>
                </a:solidFill>
              </a:defRPr>
            </a:pPr>
            <a:r>
              <a:t>Conversion &amp; Checkout</a:t>
            </a:r>
          </a:p>
          <a:p>
            <a:pPr>
              <a:spcBef>
                <a:spcPts val="800"/>
              </a:spcBef>
              <a:defRPr sz="1150">
                <a:solidFill>
                  <a:srgbClr val="64748B"/>
                </a:solidFill>
              </a:defRPr>
            </a:pPr>
            <a:r>
              <a:t>• Slide-Out Bag Drawer: Seamless side drawer with real-time subtotal computation and free shipping threshold.</a:t>
            </a:r>
          </a:p>
          <a:p>
            <a:pPr>
              <a:spcBef>
                <a:spcPts val="800"/>
              </a:spcBef>
              <a:defRPr sz="1150">
                <a:solidFill>
                  <a:srgbClr val="64748B"/>
                </a:solidFill>
              </a:defRPr>
            </a:pPr>
            <a:r>
              <a:t>• Size &amp; Quantity Management: Direct size modifications and quantity updates inside the cart.</a:t>
            </a:r>
          </a:p>
          <a:p>
            <a:pPr>
              <a:spcBef>
                <a:spcPts val="800"/>
              </a:spcBef>
              <a:defRPr sz="1150">
                <a:solidFill>
                  <a:srgbClr val="64748B"/>
                </a:solidFill>
              </a:defRPr>
            </a:pPr>
            <a:r>
              <a:t>• Streamlined Checkout: Frictionless modal capturing customer contact, shipping address, and payment choice.</a:t>
            </a:r>
          </a:p>
          <a:p>
            <a:pPr>
              <a:spcBef>
                <a:spcPts val="800"/>
              </a:spcBef>
              <a:defRPr sz="1150">
                <a:solidFill>
                  <a:srgbClr val="64748B"/>
                </a:solidFill>
              </a:defRPr>
            </a:pPr>
            <a:r>
              <a:t>• Instant Order Confirmation: Direct POST to backend returning unique order reference ID.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solidFill>
              <a:srgbClr val="F8F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4AF37"/>
                </a:solidFill>
              </a:defRPr>
            </a:pPr>
            <a:r>
              <a:t>ADMIN 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Admin Command Center: Complete Inventory Control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2148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475488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563EB"/>
                </a:solidFill>
              </a:defRPr>
            </a:pPr>
            <a:r>
              <a:t>1. Real-Time Business Metrics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• Live inventory KPIs: Total Products, Active Catalog Count, Low Stock Warnings, and Total Orders.</a:t>
            </a:r>
            <a:br/>
            <a:r>
              <a:t>• Automatic asynchronous synchronization on dashboard load using Promise.all.</a:t>
            </a:r>
            <a:br/>
            <a:r>
              <a:t>• Instant visual alerts when stock levels fall below critical thresholds.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120640" cy="2148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737360"/>
            <a:ext cx="475488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D4AF37"/>
                </a:solidFill>
              </a:defRPr>
            </a:pPr>
            <a:r>
              <a:t>2. Footwear Catalog Management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• Add &amp; Edit Modals: Comprehensive footwear fields (Name, Price, MRP, Category, Stock, Material).</a:t>
            </a:r>
            <a:br/>
            <a:r>
              <a:t>• Multi-Image Manager: Add/remove image URLs with live thumbnails and strict count preservation.</a:t>
            </a:r>
            <a:br/>
            <a:r>
              <a:t>• Dynamic Size &amp; Detail Chips: Add specific shoe sizes and feature bullet points.</a:t>
            </a:r>
            <a:br/>
            <a:r>
              <a:t>• One-click active/inactive toggle &amp; cascade delete.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977639"/>
            <a:ext cx="5120640" cy="2148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069080"/>
            <a:ext cx="475488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</a:defRPr>
            </a:pPr>
            <a:r>
              <a:t>3. Hero Slide Banner Control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• Promotional Campaign Builder: Configure carousel slides directly from the admin panel.</a:t>
            </a:r>
            <a:br/>
            <a:r>
              <a:t>• Fields: Promotional headline, subtitle, high-res background image, promotional badge, and CTA.</a:t>
            </a:r>
            <a:br/>
            <a:r>
              <a:t>• Live Ordering &amp; Activation: Reorder slides and toggle active state without redeploying code.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3977639"/>
            <a:ext cx="5120640" cy="2148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4069080"/>
            <a:ext cx="475488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4. Order Fulfillment Workflow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• Central Order Ledger: Displays customer name, phone, address, and total amount.</a:t>
            </a:r>
            <a:br/>
            <a:r>
              <a:t>• Detailed Line Items: View specific shoe models, chosen sizes, and unit prices.</a:t>
            </a:r>
            <a:br/>
            <a:r>
              <a:t>• Fulfillment Status Tracker: Advance order through PENDING -&gt; CONFIRMED -&gt; SHIPPED -&gt; DELIVERED with instant database persistence.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solidFill>
              <a:srgbClr val="F8F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4AF37"/>
                </a:solidFill>
              </a:defRPr>
            </a:pPr>
            <a:r>
              <a:t>STRUCTURE &amp; STANDARDS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Clean Project Architecture &amp; Code Organization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563EB"/>
                </a:solidFill>
              </a:defRPr>
            </a:pPr>
            <a:r>
              <a:t>FRONTEND: vayra-footwear/</a:t>
            </a:r>
          </a:p>
          <a:p>
            <a:pPr>
              <a:spcBef>
                <a:spcPts val="800"/>
              </a:spcBef>
              <a:defRPr sz="1000">
                <a:solidFill>
                  <a:srgbClr val="0F172A"/>
                </a:solidFill>
                <a:latin typeface="Courier New"/>
              </a:defRPr>
            </a:pPr>
            <a:r>
              <a:t>vayra-footwear/</a:t>
            </a:r>
            <a:br/>
            <a:r>
              <a:t>├── src/</a:t>
            </a:r>
            <a:br/>
            <a:r>
              <a:t>│   ├── components/</a:t>
            </a:r>
            <a:br/>
            <a:r>
              <a:t>│   │   ├── customer/</a:t>
            </a:r>
            <a:br/>
            <a:r>
              <a:t>│   │   │   ├── Navbar.jsx (Cleaned brand header)</a:t>
            </a:r>
            <a:br/>
            <a:r>
              <a:t>│   │   │   ├── StackedSlider.jsx (Hero carousel)</a:t>
            </a:r>
            <a:br/>
            <a:r>
              <a:t>│   │   │   ├── FilterBar.jsx (Category/price filters)</a:t>
            </a:r>
            <a:br/>
            <a:r>
              <a:t>│   │   │   ├── ProductCard.jsx (Footwear card)</a:t>
            </a:r>
            <a:br/>
            <a:r>
              <a:t>│   │   │   ├── ProductPage.jsx (Gallery &amp; size picker)</a:t>
            </a:r>
            <a:br/>
            <a:r>
              <a:t>│   │   │   ├── BagDrawer.jsx (Cart drawer)</a:t>
            </a:r>
            <a:br/>
            <a:r>
              <a:t>│   │   │   ├── CheckoutPage.jsx (Order checkout)</a:t>
            </a:r>
            <a:br/>
            <a:r>
              <a:t>│   │   │   └── Footer.jsx (Brand footer)</a:t>
            </a:r>
            <a:br/>
            <a:r>
              <a:t>│   │   └── admin/</a:t>
            </a:r>
            <a:br/>
            <a:r>
              <a:t>│   │       └── AdminDashboard.jsx (Admin hub)</a:t>
            </a:r>
            <a:br/>
            <a:r>
              <a:t>│   ├── services/</a:t>
            </a:r>
            <a:br/>
            <a:r>
              <a:t>│   │   └── api.js (Centralized MySQL REST client)</a:t>
            </a:r>
            <a:br/>
            <a:r>
              <a:t>│   ├── App.jsx (Root coordinator)</a:t>
            </a:r>
            <a:br/>
            <a:r>
              <a:t>│   └── main.jsx &amp; index.css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12064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82880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D4AF37"/>
                </a:solidFill>
              </a:defRPr>
            </a:pPr>
            <a:r>
              <a:t>BACKEND: vayra-footwear-backend/</a:t>
            </a:r>
          </a:p>
          <a:p>
            <a:pPr>
              <a:spcBef>
                <a:spcPts val="800"/>
              </a:spcBef>
              <a:defRPr sz="1000">
                <a:solidFill>
                  <a:srgbClr val="0F172A"/>
                </a:solidFill>
                <a:latin typeface="Courier New"/>
              </a:defRPr>
            </a:pPr>
            <a:r>
              <a:t>vayra-footwear-backend/</a:t>
            </a:r>
            <a:br/>
            <a:r>
              <a:t>├── pom.xml (Spring Boot 4.1.1, JPA, MySQL)</a:t>
            </a:r>
            <a:br/>
            <a:r>
              <a:t>└── src/main/</a:t>
            </a:r>
            <a:br/>
            <a:r>
              <a:t>    ├── resources/</a:t>
            </a:r>
            <a:br/>
            <a:r>
              <a:t>    │   └── application.properties (Port 8082, DB config)</a:t>
            </a:r>
            <a:br/>
            <a:r>
              <a:t>    └── java/com/vayra/</a:t>
            </a:r>
            <a:br/>
            <a:r>
              <a:t>        ├── VayraBackendApplication.java</a:t>
            </a:r>
            <a:br/>
            <a:r>
              <a:t>        ├── config/</a:t>
            </a:r>
            <a:br/>
            <a:r>
              <a:t>        │   └── WebConfig.java (CORS configuration)</a:t>
            </a:r>
            <a:br/>
            <a:r>
              <a:t>        ├── entity/</a:t>
            </a:r>
            <a:br/>
            <a:r>
              <a:t>        │   ├── Product.java (@ElementCollections)</a:t>
            </a:r>
            <a:br/>
            <a:r>
              <a:t>        │   ├── Slide.java (Banner entity)</a:t>
            </a:r>
            <a:br/>
            <a:r>
              <a:t>        │   ├── CustomerOrder.java &amp; OrderItem.java</a:t>
            </a:r>
            <a:br/>
            <a:r>
              <a:t>        ├── repository/</a:t>
            </a:r>
            <a:br/>
            <a:r>
              <a:t>        │   ├── ProductRepository.java</a:t>
            </a:r>
            <a:br/>
            <a:r>
              <a:t>        │   ├── SlideRepository.java</a:t>
            </a:r>
            <a:br/>
            <a:r>
              <a:t>        │   └── OrderRepository.java</a:t>
            </a:r>
            <a:br/>
            <a:r>
              <a:t>        └── controller/</a:t>
            </a:r>
            <a:br/>
            <a:r>
              <a:t>            ├── ProductController.java</a:t>
            </a:r>
            <a:br/>
            <a:r>
              <a:t>            ├── SlideController.java</a:t>
            </a:r>
            <a:br/>
            <a:r>
              <a:t>            └── OrderController.java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solidFill>
              <a:srgbClr val="F8F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4AF37"/>
                </a:solidFill>
              </a:defRPr>
            </a:pPr>
            <a:r>
              <a:t>VERIFICATION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Quality Assurance, Testing &amp; Isolation Guarantee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328416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2962656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B981"/>
                </a:solidFill>
              </a:defRPr>
            </a:pPr>
            <a:r>
              <a:t>1. Build Verification</a:t>
            </a:r>
          </a:p>
          <a:p>
            <a:pPr>
              <a:spcBef>
                <a:spcPts val="1000"/>
              </a:spcBef>
              <a:defRPr sz="1150">
                <a:solidFill>
                  <a:srgbClr val="64748B"/>
                </a:solidFill>
              </a:defRPr>
            </a:pPr>
            <a:r>
              <a:t>✓ Frontend Compilation: Executed 'npm run build' with Vite; completed in 321ms with 0 syntax or lint errors.</a:t>
            </a:r>
          </a:p>
          <a:p>
            <a:pPr>
              <a:spcBef>
                <a:spcPts val="1000"/>
              </a:spcBef>
              <a:defRPr sz="1150">
                <a:solidFill>
                  <a:srgbClr val="64748B"/>
                </a:solidFill>
              </a:defRPr>
            </a:pPr>
            <a:r>
              <a:t>✓ Backend Packaging: Executed './mvnw clean package -DskipTests' producing clean standalone runnable JAR.</a:t>
            </a:r>
          </a:p>
          <a:p>
            <a:pPr>
              <a:spcBef>
                <a:spcPts val="1000"/>
              </a:spcBef>
              <a:defRPr sz="1150">
                <a:solidFill>
                  <a:srgbClr val="64748B"/>
                </a:solidFill>
              </a:defRPr>
            </a:pPr>
            <a:r>
              <a:t>✓ Runtime Health: Background daemons running smoothly on ports 5173 (Frontend) and 8082 (Backend).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25696" y="1645920"/>
            <a:ext cx="3328416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08576" y="1828800"/>
            <a:ext cx="2962656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563EB"/>
                </a:solidFill>
              </a:defRPr>
            </a:pPr>
            <a:r>
              <a:t>2. Data &amp; Image Tests</a:t>
            </a:r>
          </a:p>
          <a:p>
            <a:pPr>
              <a:spcBef>
                <a:spcPts val="800"/>
              </a:spcBef>
              <a:defRPr sz="1150">
                <a:solidFill>
                  <a:srgbClr val="64748B"/>
                </a:solidFill>
              </a:defRPr>
            </a:pPr>
            <a:r>
              <a:t>✓ Full CRUD Lifecycle: Tested POST, GET, PUT, PATCH, DELETE across products, slides, and orders.</a:t>
            </a:r>
          </a:p>
          <a:p>
            <a:pPr>
              <a:spcBef>
                <a:spcPts val="800"/>
              </a:spcBef>
              <a:defRPr sz="1150">
                <a:solidFill>
                  <a:srgbClr val="64748B"/>
                </a:solidFill>
              </a:defRPr>
            </a:pPr>
            <a:r>
              <a:t>✓ Exact Image Counts: Verified in MySQL that 1 image = 1 row, 3 images = 3 rows, 0 images = 0 rows.</a:t>
            </a:r>
          </a:p>
          <a:p>
            <a:pPr>
              <a:spcBef>
                <a:spcPts val="800"/>
              </a:spcBef>
              <a:defRPr sz="1150">
                <a:solidFill>
                  <a:srgbClr val="64748B"/>
                </a:solidFill>
              </a:defRPr>
            </a:pPr>
            <a:r>
              <a:t>✓ Cascade Integrity: Deleting a product verified to immediately purge child image and size rows from MySQL.</a:t>
            </a:r>
          </a:p>
          <a:p>
            <a:pPr>
              <a:spcBef>
                <a:spcPts val="800"/>
              </a:spcBef>
              <a:defRPr sz="1150">
                <a:solidFill>
                  <a:srgbClr val="64748B"/>
                </a:solidFill>
              </a:defRPr>
            </a:pPr>
            <a:r>
              <a:t>✓ Visibility Filtering: active=false shoes excluded from storefront query.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19872" y="1645920"/>
            <a:ext cx="3328416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02752" y="1828800"/>
            <a:ext cx="2962656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D4AF37"/>
                </a:solidFill>
              </a:defRPr>
            </a:pPr>
            <a:r>
              <a:t>3. Zero-Touch Isolation</a:t>
            </a:r>
          </a:p>
          <a:p>
            <a:pPr>
              <a:spcBef>
                <a:spcPts val="800"/>
              </a:spcBef>
              <a:defRPr sz="1150">
                <a:solidFill>
                  <a:srgbClr val="64748B"/>
                </a:solidFill>
              </a:defRPr>
            </a:pPr>
            <a:r>
              <a:t>✓ TWO BROTHERS Untouched: 0 files, 0 routes, and 0 components altered in two-brothers-store.</a:t>
            </a:r>
          </a:p>
          <a:p>
            <a:pPr>
              <a:spcBef>
                <a:spcPts val="800"/>
              </a:spcBef>
              <a:defRPr sz="1150">
                <a:solidFill>
                  <a:srgbClr val="64748B"/>
                </a:solidFill>
              </a:defRPr>
            </a:pPr>
            <a:r>
              <a:t>✓ TWO BROTHERS Backend: Unaltered, operating independently on port 8081.</a:t>
            </a:r>
          </a:p>
          <a:p>
            <a:pPr>
              <a:spcBef>
                <a:spcPts val="800"/>
              </a:spcBef>
              <a:defRPr sz="1150">
                <a:solidFill>
                  <a:srgbClr val="64748B"/>
                </a:solidFill>
              </a:defRPr>
            </a:pPr>
            <a:r>
              <a:t>✓ Database Protection: two_brothers_db experienced 0 alterations; all tables and data fully intact.</a:t>
            </a:r>
          </a:p>
          <a:p>
            <a:pPr>
              <a:spcBef>
                <a:spcPts val="800"/>
              </a:spcBef>
              <a:defRPr sz="1150">
                <a:solidFill>
                  <a:srgbClr val="64748B"/>
                </a:solidFill>
              </a:defRPr>
            </a:pPr>
            <a:r>
              <a:t>✓ Clean Git Integrity: No unapproved commits or pushes made to remote repository.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solidFill>
              <a:srgbClr val="F8F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4AF37"/>
                </a:solidFill>
              </a:defRPr>
            </a:pPr>
            <a:r>
              <a:t>FUTURE ENHANCEMENTS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Strategic Roadmap: Scaling VAYRA to the Next Level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251460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28800"/>
            <a:ext cx="2240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563EB"/>
                </a:solidFill>
              </a:defRPr>
            </a:pPr>
            <a:r>
              <a:t>Phase 1: Cloud Storage</a:t>
            </a:r>
          </a:p>
          <a:p>
            <a:pPr>
              <a:spcBef>
                <a:spcPts val="400"/>
              </a:spcBef>
              <a:defRPr sz="1150" b="1">
                <a:solidFill>
                  <a:srgbClr val="0F172A"/>
                </a:solidFill>
              </a:defRPr>
            </a:pPr>
            <a:r>
              <a:t>AWS S3 / Cloudinary</a:t>
            </a:r>
          </a:p>
          <a:p>
            <a:pPr>
              <a:spcBef>
                <a:spcPts val="800"/>
              </a:spcBef>
              <a:defRPr sz="1050">
                <a:solidFill>
                  <a:srgbClr val="64748B"/>
                </a:solidFill>
              </a:defRPr>
            </a:pPr>
            <a:r>
              <a:t>• Direct image uploads from Admin to cloud buckets.</a:t>
            </a:r>
          </a:p>
          <a:p>
            <a:pPr>
              <a:spcBef>
                <a:spcPts val="800"/>
              </a:spcBef>
              <a:defRPr sz="1050">
                <a:solidFill>
                  <a:srgbClr val="64748B"/>
                </a:solidFill>
              </a:defRPr>
            </a:pPr>
            <a:r>
              <a:t>• Automatic image optimization &amp; WebP conversion.</a:t>
            </a:r>
          </a:p>
          <a:p>
            <a:pPr>
              <a:spcBef>
                <a:spcPts val="800"/>
              </a:spcBef>
              <a:defRPr sz="1050">
                <a:solidFill>
                  <a:srgbClr val="64748B"/>
                </a:solidFill>
              </a:defRPr>
            </a:pPr>
            <a:r>
              <a:t>• Global CDN caching for sub-100ms load times.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65576" y="1645920"/>
            <a:ext cx="251460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02736" y="1828800"/>
            <a:ext cx="2240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</a:defRPr>
            </a:pPr>
            <a:r>
              <a:t>Phase 2: Payments</a:t>
            </a:r>
          </a:p>
          <a:p>
            <a:pPr>
              <a:spcBef>
                <a:spcPts val="400"/>
              </a:spcBef>
              <a:defRPr sz="1150" b="1">
                <a:solidFill>
                  <a:srgbClr val="0F172A"/>
                </a:solidFill>
              </a:defRPr>
            </a:pPr>
            <a:r>
              <a:t>Razorpay / Stripe</a:t>
            </a:r>
          </a:p>
          <a:p>
            <a:pPr>
              <a:spcBef>
                <a:spcPts val="800"/>
              </a:spcBef>
              <a:defRPr sz="1050">
                <a:solidFill>
                  <a:srgbClr val="64748B"/>
                </a:solidFill>
              </a:defRPr>
            </a:pPr>
            <a:r>
              <a:t>• Seamless UPI, Credit/Debit, and NetBanking checkout.</a:t>
            </a:r>
          </a:p>
          <a:p>
            <a:pPr>
              <a:spcBef>
                <a:spcPts val="800"/>
              </a:spcBef>
              <a:defRPr sz="1050">
                <a:solidFill>
                  <a:srgbClr val="64748B"/>
                </a:solidFill>
              </a:defRPr>
            </a:pPr>
            <a:r>
              <a:t>• Webhook listeners for instant payment verification.</a:t>
            </a:r>
          </a:p>
          <a:p>
            <a:pPr>
              <a:spcBef>
                <a:spcPts val="800"/>
              </a:spcBef>
              <a:defRPr sz="1050">
                <a:solidFill>
                  <a:srgbClr val="64748B"/>
                </a:solidFill>
              </a:defRPr>
            </a:pPr>
            <a:r>
              <a:t>• Automated refund and transaction reconciliation.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9632" y="1645920"/>
            <a:ext cx="251460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36792" y="1828800"/>
            <a:ext cx="2240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D4AF37"/>
                </a:solidFill>
              </a:defRPr>
            </a:pPr>
            <a:r>
              <a:t>Phase 3: Auth &amp; CRM</a:t>
            </a:r>
          </a:p>
          <a:p>
            <a:pPr>
              <a:spcBef>
                <a:spcPts val="400"/>
              </a:spcBef>
              <a:defRPr sz="1150" b="1">
                <a:solidFill>
                  <a:srgbClr val="0F172A"/>
                </a:solidFill>
              </a:defRPr>
            </a:pPr>
            <a:r>
              <a:t>Customer Accounts</a:t>
            </a:r>
          </a:p>
          <a:p>
            <a:pPr>
              <a:spcBef>
                <a:spcPts val="800"/>
              </a:spcBef>
              <a:defRPr sz="1050">
                <a:solidFill>
                  <a:srgbClr val="64748B"/>
                </a:solidFill>
              </a:defRPr>
            </a:pPr>
            <a:r>
              <a:t>• JWT / OAuth2 customer authentication.</a:t>
            </a:r>
          </a:p>
          <a:p>
            <a:pPr>
              <a:spcBef>
                <a:spcPts val="800"/>
              </a:spcBef>
              <a:defRPr sz="1050">
                <a:solidFill>
                  <a:srgbClr val="64748B"/>
                </a:solidFill>
              </a:defRPr>
            </a:pPr>
            <a:r>
              <a:t>• Saved addresses, order history, and wishlist.</a:t>
            </a:r>
          </a:p>
          <a:p>
            <a:pPr>
              <a:spcBef>
                <a:spcPts val="800"/>
              </a:spcBef>
              <a:defRPr sz="1050">
                <a:solidFill>
                  <a:srgbClr val="64748B"/>
                </a:solidFill>
              </a:defRPr>
            </a:pPr>
            <a:r>
              <a:t>• Personalized footwear recommendations.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33688" y="1645920"/>
            <a:ext cx="251460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70848" y="1828800"/>
            <a:ext cx="2240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Phase 4: Notifications</a:t>
            </a:r>
          </a:p>
          <a:p>
            <a:pPr>
              <a:spcBef>
                <a:spcPts val="400"/>
              </a:spcBef>
              <a:defRPr sz="1150" b="1">
                <a:solidFill>
                  <a:srgbClr val="0F172A"/>
                </a:solidFill>
              </a:defRPr>
            </a:pPr>
            <a:r>
              <a:t>WhatsApp &amp; SMS</a:t>
            </a:r>
          </a:p>
          <a:p>
            <a:pPr>
              <a:spcBef>
                <a:spcPts val="800"/>
              </a:spcBef>
              <a:defRPr sz="1050">
                <a:solidFill>
                  <a:srgbClr val="64748B"/>
                </a:solidFill>
              </a:defRPr>
            </a:pPr>
            <a:r>
              <a:t>• Automated order confirmation via WhatsApp Business API.</a:t>
            </a:r>
          </a:p>
          <a:p>
            <a:pPr>
              <a:spcBef>
                <a:spcPts val="800"/>
              </a:spcBef>
              <a:defRPr sz="1050">
                <a:solidFill>
                  <a:srgbClr val="64748B"/>
                </a:solidFill>
              </a:defRPr>
            </a:pPr>
            <a:r>
              <a:t>• Real-time courier dispatch &amp; delivery alerts.</a:t>
            </a:r>
          </a:p>
          <a:p>
            <a:pPr>
              <a:spcBef>
                <a:spcPts val="800"/>
              </a:spcBef>
              <a:defRPr sz="1050">
                <a:solidFill>
                  <a:srgbClr val="64748B"/>
                </a:solidFill>
              </a:defRPr>
            </a:pPr>
            <a:r>
              <a:t>• Automated customer review collection.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D11"/>
          </a:solidFill>
          <a:ln>
            <a:solidFill>
              <a:srgbClr val="0D0D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4AF37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8288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1F5F9"/>
                </a:solidFill>
              </a:defRPr>
            </a:pPr>
            <a:r>
              <a:t>VAYRA FOOTWEAR</a:t>
            </a:r>
          </a:p>
          <a:p>
            <a:pPr>
              <a:spcBef>
                <a:spcPts val="600"/>
              </a:spcBef>
              <a:defRPr sz="2200">
                <a:solidFill>
                  <a:srgbClr val="D4AF37"/>
                </a:solidFill>
              </a:defRPr>
            </a:pPr>
            <a:r>
              <a:t>Enterprise Architecture Successfully Delivered.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3291840"/>
            <a:ext cx="9966960" cy="2011680"/>
          </a:xfrm>
          <a:prstGeom prst="roundRect">
            <a:avLst/>
          </a:prstGeom>
          <a:solidFill>
            <a:srgbClr val="181820"/>
          </a:solidFill>
          <a:ln w="1524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D4AF37"/>
                </a:solidFill>
              </a:defRPr>
            </a:pPr>
            <a:r>
              <a:t>KEY ACHIEVEMENTS AT A GLANCE</a:t>
            </a:r>
          </a:p>
          <a:p>
            <a:pPr>
              <a:spcBef>
                <a:spcPts val="400"/>
              </a:spcBef>
              <a:defRPr sz="1150">
                <a:solidFill>
                  <a:srgbClr val="F1F5F9"/>
                </a:solidFill>
              </a:defRPr>
            </a:pPr>
            <a:r>
              <a:t>✓ 100% Relational MySQL persistence with dedicated 'vayra_footwear_db' (Port 3306).</a:t>
            </a:r>
          </a:p>
          <a:p>
            <a:pPr>
              <a:spcBef>
                <a:spcPts val="400"/>
              </a:spcBef>
              <a:defRPr sz="1150">
                <a:solidFill>
                  <a:srgbClr val="F1F5F9"/>
                </a:solidFill>
              </a:defRPr>
            </a:pPr>
            <a:r>
              <a:t>✓ Standalone Spring Boot 4 REST API running on dedicated Port 8082.</a:t>
            </a:r>
          </a:p>
          <a:p>
            <a:pPr>
              <a:spcBef>
                <a:spcPts val="400"/>
              </a:spcBef>
              <a:defRPr sz="1150">
                <a:solidFill>
                  <a:srgbClr val="F1F5F9"/>
                </a:solidFill>
              </a:defRPr>
            </a:pPr>
            <a:r>
              <a:t>✓ Zero-Surprise single source of truth: Admin controls 100% of storefront inventory.</a:t>
            </a:r>
          </a:p>
          <a:p>
            <a:pPr>
              <a:spcBef>
                <a:spcPts val="400"/>
              </a:spcBef>
              <a:defRPr sz="1150">
                <a:solidFill>
                  <a:srgbClr val="F1F5F9"/>
                </a:solidFill>
              </a:defRPr>
            </a:pPr>
            <a:r>
              <a:t>✓ Absolute isolation: Two Brothers platform, backend (8081), and database remained 100% untouched.</a:t>
            </a:r>
          </a:p>
          <a:p>
            <a:pPr>
              <a:spcBef>
                <a:spcPts val="400"/>
              </a:spcBef>
              <a:defRPr sz="1150">
                <a:solidFill>
                  <a:srgbClr val="F1F5F9"/>
                </a:solidFill>
              </a:defRPr>
            </a:pPr>
            <a:r>
              <a:t>✓ Verified production builds: Clean Vite frontend (5173) and Maven backend JAR.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5577840"/>
            <a:ext cx="9966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A0AEC0"/>
                </a:solidFill>
              </a:defRPr>
            </a:pPr>
            <a:r>
              <a:t>THANK YOU  |  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